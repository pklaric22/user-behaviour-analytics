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8288000" cy="10287000"/>
  <p:notesSz cx="6858000" cy="9144000"/>
  <p:embeddedFontLst>
    <p:embeddedFont>
      <p:font typeface="Canva Sans Bold" panose="020B0604020202020204" charset="0"/>
      <p:regular r:id="rId13"/>
    </p:embeddedFont>
    <p:embeddedFont>
      <p:font typeface="Montserrat" panose="00000500000000000000" pitchFamily="2" charset="-18"/>
      <p:regular r:id="rId14"/>
      <p:bold r:id="rId15"/>
      <p:italic r:id="rId16"/>
      <p:boldItalic r:id="rId17"/>
    </p:embeddedFont>
    <p:embeddedFont>
      <p:font typeface="Open Sauce" panose="020B0604020202020204" charset="-18"/>
      <p:regular r:id="rId18"/>
    </p:embeddedFont>
    <p:embeddedFont>
      <p:font typeface="Open Sauce Bold" panose="020B0604020202020204" charset="-1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9281" autoAdjust="0"/>
  </p:normalViewPr>
  <p:slideViewPr>
    <p:cSldViewPr>
      <p:cViewPr varScale="1">
        <p:scale>
          <a:sx n="38" d="100"/>
          <a:sy n="38" d="100"/>
        </p:scale>
        <p:origin x="166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4695F-9432-4559-839A-374A6C4C3A0B}" type="datetimeFigureOut">
              <a:rPr lang="hr-HR" smtClean="0"/>
              <a:t>29.10.2025.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316E2-F82A-4D93-8F75-962EF159B6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035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316E2-F82A-4D93-8F75-962EF159B642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0104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UBA alati mogu detektirati kada </a:t>
            </a:r>
            <a:r>
              <a:rPr lang="hr-HR" b="1" dirty="0"/>
              <a:t>pojedini korisnici rade stvari koje inače ne bi radili</a:t>
            </a:r>
            <a:r>
              <a:rPr lang="hr-HR" dirty="0"/>
              <a:t>, kao što je prijava </a:t>
            </a:r>
            <a:r>
              <a:rPr lang="hr-HR" b="1" dirty="0"/>
              <a:t>s nove IP adrese </a:t>
            </a:r>
            <a:r>
              <a:rPr lang="hr-HR" dirty="0"/>
              <a:t>ili </a:t>
            </a:r>
            <a:r>
              <a:rPr lang="hr-HR" b="1" dirty="0"/>
              <a:t>pregledavanje osjetljivih podataka s kojima obično ne rade.</a:t>
            </a:r>
            <a:endParaRPr lang="en-US" b="1" dirty="0"/>
          </a:p>
          <a:p>
            <a:r>
              <a:rPr lang="hr-HR" dirty="0"/>
              <a:t>Budući da mogu detektirati suptilno sumnjiva ponašanja, UBA alati mogu pomoći sigurnosnim operativnim centrima</a:t>
            </a:r>
            <a:endParaRPr lang="en-US" dirty="0"/>
          </a:p>
          <a:p>
            <a:r>
              <a:rPr lang="hr-HR" b="1" dirty="0"/>
              <a:t>Zloupotreba ispravnih (validnih) računa najčešći je način na koji kibernetički kriminalci provaljuju u mreže</a:t>
            </a:r>
            <a:r>
              <a:rPr lang="hr-HR" dirty="0"/>
              <a:t>, prema IBM-ovom X-Force Indeksu obavještajnih podataka o prijetnjama.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316E2-F82A-4D93-8F75-962EF159B642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354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Virtualna mreža omogućuje tvrtkama i pojedincima stvaranje mreže koja postoji između računala i poslužitelja, bez obzira na lokalne razlike.</a:t>
            </a:r>
            <a:endParaRPr lang="en-US" dirty="0"/>
          </a:p>
          <a:p>
            <a:r>
              <a:rPr lang="en-US" dirty="0"/>
              <a:t>… </a:t>
            </a:r>
            <a:r>
              <a:rPr lang="hr-HR" dirty="0"/>
              <a:t>LAN mreži u domene s resursima i konfiguracijama </a:t>
            </a:r>
            <a:r>
              <a:rPr lang="hr-HR" b="1" dirty="0"/>
              <a:t>koje se primjenjuju na svaku</a:t>
            </a:r>
            <a:r>
              <a:rPr lang="en-US" b="1" dirty="0"/>
              <a:t> </a:t>
            </a:r>
            <a:r>
              <a:rPr lang="en-US" b="1" dirty="0" err="1"/>
              <a:t>particiju</a:t>
            </a:r>
            <a:r>
              <a:rPr lang="en-US" b="1" dirty="0"/>
              <a:t>.</a:t>
            </a:r>
          </a:p>
          <a:p>
            <a:r>
              <a:rPr lang="en-US" dirty="0"/>
              <a:t>Razina 2 (Data Link Layer) – </a:t>
            </a:r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npr</a:t>
            </a:r>
            <a:r>
              <a:rPr lang="en-US" dirty="0"/>
              <a:t> VLAN – </a:t>
            </a:r>
            <a:r>
              <a:rPr lang="en-US" dirty="0" err="1"/>
              <a:t>upostavljanje</a:t>
            </a:r>
            <a:r>
              <a:rPr lang="en-US" dirty="0"/>
              <a:t> I </a:t>
            </a:r>
            <a:r>
              <a:rPr lang="en-US" dirty="0" err="1"/>
              <a:t>održavanje</a:t>
            </a:r>
            <a:r>
              <a:rPr lang="en-US" dirty="0"/>
              <a:t> </a:t>
            </a:r>
            <a:r>
              <a:rPr lang="en-US" dirty="0" err="1"/>
              <a:t>veze</a:t>
            </a:r>
            <a:r>
              <a:rPr lang="en-US" dirty="0"/>
              <a:t>, </a:t>
            </a:r>
            <a:r>
              <a:rPr lang="en-US" dirty="0" err="1"/>
              <a:t>pouzdan</a:t>
            </a:r>
            <a:r>
              <a:rPr lang="en-US" dirty="0"/>
              <a:t> </a:t>
            </a:r>
            <a:r>
              <a:rPr lang="en-US" dirty="0" err="1"/>
              <a:t>prijenos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r>
              <a:rPr lang="hr-HR" dirty="0"/>
              <a:t>Razin</a:t>
            </a:r>
            <a:r>
              <a:rPr lang="en-US" dirty="0"/>
              <a:t>a</a:t>
            </a:r>
            <a:r>
              <a:rPr lang="hr-HR" dirty="0"/>
              <a:t> 3 (Network Layer)</a:t>
            </a:r>
            <a:r>
              <a:rPr lang="en-US" dirty="0"/>
              <a:t> – </a:t>
            </a:r>
            <a:r>
              <a:rPr lang="en-US" dirty="0" err="1"/>
              <a:t>globalna</a:t>
            </a:r>
            <a:r>
              <a:rPr lang="en-US" dirty="0"/>
              <a:t> </a:t>
            </a:r>
            <a:r>
              <a:rPr lang="en-US" dirty="0" err="1"/>
              <a:t>npr</a:t>
            </a:r>
            <a:r>
              <a:rPr lang="en-US" dirty="0"/>
              <a:t>. IP </a:t>
            </a:r>
            <a:r>
              <a:rPr lang="en-US" dirty="0" err="1"/>
              <a:t>promet</a:t>
            </a:r>
            <a:r>
              <a:rPr lang="en-US" dirty="0"/>
              <a:t> – </a:t>
            </a:r>
            <a:r>
              <a:rPr lang="en-US" dirty="0" err="1"/>
              <a:t>zadužena</a:t>
            </a:r>
            <a:r>
              <a:rPr lang="en-US" dirty="0"/>
              <a:t> za </a:t>
            </a:r>
            <a:r>
              <a:rPr lang="en-US" dirty="0" err="1"/>
              <a:t>routiranje</a:t>
            </a:r>
            <a:endParaRPr lang="hr-H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316E2-F82A-4D93-8F75-962EF159B64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466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Softveru dajemo 100.000 e-mailova koje je čovjek već označio kao </a:t>
            </a:r>
            <a:r>
              <a:rPr lang="hr-HR" b="1" dirty="0"/>
              <a:t>[SPAM]</a:t>
            </a:r>
            <a:r>
              <a:rPr lang="hr-HR" dirty="0"/>
              <a:t> ili </a:t>
            </a:r>
            <a:r>
              <a:rPr lang="hr-HR" b="1" dirty="0"/>
              <a:t>[HAM]</a:t>
            </a:r>
            <a:r>
              <a:rPr lang="hr-HR" dirty="0"/>
              <a:t>.</a:t>
            </a:r>
            <a:endParaRPr lang="en-US" dirty="0"/>
          </a:p>
          <a:p>
            <a:r>
              <a:rPr lang="hr-HR" dirty="0"/>
              <a:t>"E-mailovi s više od 5 uskličnika i naslovom s puno velikih slova imaju 98% šanse da budu SPAM.“</a:t>
            </a:r>
            <a:endParaRPr lang="en-US" dirty="0"/>
          </a:p>
          <a:p>
            <a:r>
              <a:rPr lang="hr-HR" dirty="0"/>
              <a:t>Strojno učenje se ne programira samo pisanjem pravila, već pisanjem </a:t>
            </a:r>
            <a:r>
              <a:rPr lang="hr-HR" b="1" dirty="0"/>
              <a:t>matematičkih algoritama</a:t>
            </a:r>
            <a:r>
              <a:rPr lang="hr-HR" dirty="0"/>
              <a:t> koji omogućuju računalu da </a:t>
            </a:r>
            <a:r>
              <a:rPr lang="hr-HR" b="1" dirty="0"/>
              <a:t>samostalno optimizira</a:t>
            </a:r>
            <a:r>
              <a:rPr lang="hr-HR" dirty="0"/>
              <a:t> svoje unutarnje parametre na temelju podataka.</a:t>
            </a:r>
            <a:endParaRPr lang="en-US" dirty="0"/>
          </a:p>
          <a:p>
            <a:r>
              <a:rPr lang="en-US" dirty="0"/>
              <a:t>NADZIRANO: </a:t>
            </a:r>
            <a:r>
              <a:rPr lang="hr-HR" dirty="0"/>
              <a:t>Računalo učimo pomoću </a:t>
            </a:r>
            <a:r>
              <a:rPr lang="hr-HR" b="1" dirty="0"/>
              <a:t>udžbenika s rješenjima</a:t>
            </a:r>
            <a:r>
              <a:rPr lang="hr-HR" dirty="0"/>
              <a:t>.</a:t>
            </a:r>
            <a:endParaRPr lang="en-US" dirty="0"/>
          </a:p>
          <a:p>
            <a:r>
              <a:rPr lang="en-US" dirty="0"/>
              <a:t>NENADZIRANO: </a:t>
            </a:r>
            <a:r>
              <a:rPr lang="hr-HR" dirty="0"/>
              <a:t>Računalo učimo tako da mu damo samo </a:t>
            </a:r>
            <a:r>
              <a:rPr lang="hr-HR" b="1" dirty="0"/>
              <a:t>podatke</a:t>
            </a:r>
            <a:r>
              <a:rPr lang="hr-HR" dirty="0"/>
              <a:t>, a ono samo pronalazi grupe i sličnosti.</a:t>
            </a:r>
            <a:endParaRPr lang="en-US" dirty="0"/>
          </a:p>
          <a:p>
            <a:r>
              <a:rPr lang="en-US" dirty="0"/>
              <a:t>POLUNADZIRANO: </a:t>
            </a:r>
            <a:r>
              <a:rPr lang="hr-HR" dirty="0"/>
              <a:t>Koristi se velika količina </a:t>
            </a:r>
            <a:r>
              <a:rPr lang="hr-HR" b="1" dirty="0"/>
              <a:t>sirovih podataka</a:t>
            </a:r>
            <a:r>
              <a:rPr lang="hr-HR" dirty="0"/>
              <a:t>, ali s povremenom </a:t>
            </a:r>
            <a:r>
              <a:rPr lang="hr-HR" b="1" dirty="0"/>
              <a:t>ljudskom kontrolom</a:t>
            </a:r>
            <a:r>
              <a:rPr lang="hr-HR" dirty="0"/>
              <a:t> kako bi se osigurala točnost.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316E2-F82A-4D93-8F75-962EF159B642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169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316E2-F82A-4D93-8F75-962EF159B64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701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jpe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think/topics/machine-learning-for-anomaly-detection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docs.gns3.com/doc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xpertinsights.com/data-loss-prevention/the-top-user-behavior-analytics-uba-solutions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www.cloudshare.com/question/how-can-cybersecurity-companies-leverage-virtual-environments/" TargetMode="External"/><Relationship Id="rId10" Type="http://schemas.openxmlformats.org/officeDocument/2006/relationships/hyperlink" Target="https://www.stamus-networks.com/blog/inside-selks-whats-under-the-hood" TargetMode="External"/><Relationship Id="rId4" Type="http://schemas.openxmlformats.org/officeDocument/2006/relationships/hyperlink" Target="https://www.bmc.com/blogs/virtual-network/" TargetMode="External"/><Relationship Id="rId9" Type="http://schemas.openxmlformats.org/officeDocument/2006/relationships/hyperlink" Target="https://www.ibm.com/think/topics/user-behavior-analytic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hyperlink" Target="https://www.youtube.com/watch?v=u0TgGIn2LI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virtualbox.org/wiki/Technical_documentation" TargetMode="External"/><Relationship Id="rId5" Type="http://schemas.openxmlformats.org/officeDocument/2006/relationships/hyperlink" Target="https://www.virtualbox.org/manual/topics/Introduction.html" TargetMode="External"/><Relationship Id="rId4" Type="http://schemas.openxmlformats.org/officeDocument/2006/relationships/hyperlink" Target="https://www.stamus-networks.com/selks-arch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18242">
            <a:off x="12222816" y="4551661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-9358970">
            <a:off x="-4761183" y="-2300505"/>
            <a:ext cx="14005891" cy="15193768"/>
          </a:xfrm>
          <a:custGeom>
            <a:avLst/>
            <a:gdLst/>
            <a:ahLst/>
            <a:cxnLst/>
            <a:rect l="l" t="t" r="r" b="b"/>
            <a:pathLst>
              <a:path w="14005891" h="15193768">
                <a:moveTo>
                  <a:pt x="0" y="0"/>
                </a:moveTo>
                <a:lnTo>
                  <a:pt x="14005891" y="0"/>
                </a:lnTo>
                <a:lnTo>
                  <a:pt x="14005891" y="15193768"/>
                </a:lnTo>
                <a:lnTo>
                  <a:pt x="0" y="15193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4" name="Group 4"/>
          <p:cNvGrpSpPr/>
          <p:nvPr/>
        </p:nvGrpSpPr>
        <p:grpSpPr>
          <a:xfrm rot="-1396892">
            <a:off x="11011195" y="4646566"/>
            <a:ext cx="6881404" cy="1859759"/>
            <a:chOff x="0" y="0"/>
            <a:chExt cx="150374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745" cy="406400"/>
            </a:xfrm>
            <a:custGeom>
              <a:avLst/>
              <a:gdLst/>
              <a:ahLst/>
              <a:cxnLst/>
              <a:rect l="l" t="t" r="r" b="b"/>
              <a:pathLst>
                <a:path w="1503745" h="406400">
                  <a:moveTo>
                    <a:pt x="751872" y="0"/>
                  </a:moveTo>
                  <a:cubicBezTo>
                    <a:pt x="336625" y="0"/>
                    <a:pt x="0" y="90976"/>
                    <a:pt x="0" y="203200"/>
                  </a:cubicBezTo>
                  <a:cubicBezTo>
                    <a:pt x="0" y="315424"/>
                    <a:pt x="336625" y="406400"/>
                    <a:pt x="751872" y="406400"/>
                  </a:cubicBezTo>
                  <a:cubicBezTo>
                    <a:pt x="1167120" y="406400"/>
                    <a:pt x="1503745" y="315424"/>
                    <a:pt x="1503745" y="203200"/>
                  </a:cubicBezTo>
                  <a:cubicBezTo>
                    <a:pt x="1503745" y="90976"/>
                    <a:pt x="1167120" y="0"/>
                    <a:pt x="7518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0976" y="-19050"/>
              <a:ext cx="1221793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59236" y="2262849"/>
            <a:ext cx="4032911" cy="6142892"/>
            <a:chOff x="0" y="0"/>
            <a:chExt cx="4445000" cy="67705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770581"/>
            </a:xfrm>
            <a:custGeom>
              <a:avLst/>
              <a:gdLst/>
              <a:ahLst/>
              <a:cxnLst/>
              <a:rect l="l" t="t" r="r" b="b"/>
              <a:pathLst>
                <a:path w="4445000" h="6770581">
                  <a:moveTo>
                    <a:pt x="2222500" y="6770581"/>
                  </a:moveTo>
                  <a:cubicBezTo>
                    <a:pt x="995680" y="6770581"/>
                    <a:pt x="0" y="5708954"/>
                    <a:pt x="0" y="4400878"/>
                  </a:cubicBezTo>
                  <a:lnTo>
                    <a:pt x="0" y="2369704"/>
                  </a:lnTo>
                  <a:cubicBezTo>
                    <a:pt x="0" y="1061627"/>
                    <a:pt x="995680" y="0"/>
                    <a:pt x="2222500" y="0"/>
                  </a:cubicBezTo>
                  <a:cubicBezTo>
                    <a:pt x="3449320" y="0"/>
                    <a:pt x="4445000" y="1061627"/>
                    <a:pt x="4445000" y="2369704"/>
                  </a:cubicBezTo>
                  <a:lnTo>
                    <a:pt x="4445000" y="4400878"/>
                  </a:lnTo>
                  <a:cubicBezTo>
                    <a:pt x="4445000" y="5708954"/>
                    <a:pt x="3449320" y="6770581"/>
                    <a:pt x="2222500" y="6770581"/>
                  </a:cubicBezTo>
                  <a:close/>
                </a:path>
              </a:pathLst>
            </a:custGeom>
            <a:blipFill>
              <a:blip r:embed="rId5"/>
              <a:stretch>
                <a:fillRect l="-773" r="-773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/>
          <p:cNvGrpSpPr/>
          <p:nvPr/>
        </p:nvGrpSpPr>
        <p:grpSpPr>
          <a:xfrm rot="-1396892">
            <a:off x="11011195" y="4371815"/>
            <a:ext cx="6881404" cy="1859759"/>
            <a:chOff x="0" y="0"/>
            <a:chExt cx="1503745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3745" cy="406400"/>
            </a:xfrm>
            <a:custGeom>
              <a:avLst/>
              <a:gdLst/>
              <a:ahLst/>
              <a:cxnLst/>
              <a:rect l="l" t="t" r="r" b="b"/>
              <a:pathLst>
                <a:path w="1503745" h="406400">
                  <a:moveTo>
                    <a:pt x="751872" y="0"/>
                  </a:moveTo>
                  <a:cubicBezTo>
                    <a:pt x="336625" y="0"/>
                    <a:pt x="0" y="90976"/>
                    <a:pt x="0" y="203200"/>
                  </a:cubicBezTo>
                  <a:cubicBezTo>
                    <a:pt x="0" y="315424"/>
                    <a:pt x="336625" y="406400"/>
                    <a:pt x="751872" y="406400"/>
                  </a:cubicBezTo>
                  <a:cubicBezTo>
                    <a:pt x="1167120" y="406400"/>
                    <a:pt x="1503745" y="315424"/>
                    <a:pt x="1503745" y="203200"/>
                  </a:cubicBezTo>
                  <a:cubicBezTo>
                    <a:pt x="1503745" y="90976"/>
                    <a:pt x="1167120" y="0"/>
                    <a:pt x="7518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976" y="-19050"/>
              <a:ext cx="1221793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3" name="TextBox 13"/>
          <p:cNvSpPr txBox="1"/>
          <p:nvPr/>
        </p:nvSpPr>
        <p:spPr>
          <a:xfrm>
            <a:off x="1222344" y="4076907"/>
            <a:ext cx="12783332" cy="288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30"/>
              </a:lnSpc>
            </a:pPr>
            <a:r>
              <a:rPr lang="en-US" sz="9188" b="1" spc="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BEHAVIOUR</a:t>
            </a:r>
          </a:p>
          <a:p>
            <a:pPr algn="l">
              <a:lnSpc>
                <a:spcPts val="11430"/>
              </a:lnSpc>
            </a:pPr>
            <a:r>
              <a:rPr lang="en-US" sz="9188" b="1" spc="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2344" y="7146571"/>
            <a:ext cx="8514275" cy="82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8" spc="27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STUDENTI: JELČIĆ JURE, KLARIĆ PATRIK, KOS MAKSIM, KOVAČ MARTA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/>
          <p:cNvSpPr txBox="1"/>
          <p:nvPr/>
        </p:nvSpPr>
        <p:spPr>
          <a:xfrm>
            <a:off x="1904044" y="4595330"/>
            <a:ext cx="6043466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6"/>
              </a:lnSpc>
            </a:pPr>
            <a:r>
              <a:rPr lang="en-US" sz="7119" b="1" spc="897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SADRŽAJ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22591" y="2345672"/>
            <a:ext cx="4893822" cy="44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7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TEORIJSKO ODREĐENJE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22591" y="5801548"/>
            <a:ext cx="4893822" cy="44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7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OČEKIVANI PROBLEMI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2591" y="4073610"/>
            <a:ext cx="5833634" cy="44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7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 ZA PRAKTIČNI DIO RADA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22591" y="7529019"/>
            <a:ext cx="5833634" cy="44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7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LITERATURA</a:t>
            </a:r>
          </a:p>
        </p:txBody>
      </p:sp>
      <p:sp>
        <p:nvSpPr>
          <p:cNvPr id="8" name="Freeform 8"/>
          <p:cNvSpPr/>
          <p:nvPr/>
        </p:nvSpPr>
        <p:spPr>
          <a:xfrm rot="-4989931">
            <a:off x="10277973" y="6630908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9" name="Group 9"/>
          <p:cNvGrpSpPr/>
          <p:nvPr/>
        </p:nvGrpSpPr>
        <p:grpSpPr>
          <a:xfrm>
            <a:off x="10159187" y="2240180"/>
            <a:ext cx="547089" cy="54708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59187" y="5696307"/>
            <a:ext cx="547089" cy="5470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9187" y="3968117"/>
            <a:ext cx="547089" cy="54708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59187" y="7424244"/>
            <a:ext cx="547089" cy="54708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22" name="TextBox 22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9931">
            <a:off x="10277973" y="6630908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4" name="Group 4"/>
          <p:cNvGrpSpPr/>
          <p:nvPr/>
        </p:nvGrpSpPr>
        <p:grpSpPr>
          <a:xfrm>
            <a:off x="981075" y="5489278"/>
            <a:ext cx="1212886" cy="121288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29725" y="5489278"/>
            <a:ext cx="1212886" cy="121288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1175577"/>
            <a:ext cx="9631021" cy="3277780"/>
            <a:chOff x="0" y="0"/>
            <a:chExt cx="1492097" cy="5078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92097" cy="507814"/>
            </a:xfrm>
            <a:custGeom>
              <a:avLst/>
              <a:gdLst/>
              <a:ahLst/>
              <a:cxnLst/>
              <a:rect l="l" t="t" r="r" b="b"/>
              <a:pathLst>
                <a:path w="1492097" h="507814">
                  <a:moveTo>
                    <a:pt x="45016" y="0"/>
                  </a:moveTo>
                  <a:lnTo>
                    <a:pt x="1447081" y="0"/>
                  </a:lnTo>
                  <a:cubicBezTo>
                    <a:pt x="1459020" y="0"/>
                    <a:pt x="1470470" y="4743"/>
                    <a:pt x="1478912" y="13185"/>
                  </a:cubicBezTo>
                  <a:cubicBezTo>
                    <a:pt x="1487354" y="21627"/>
                    <a:pt x="1492097" y="33077"/>
                    <a:pt x="1492097" y="45016"/>
                  </a:cubicBezTo>
                  <a:lnTo>
                    <a:pt x="1492097" y="462798"/>
                  </a:lnTo>
                  <a:cubicBezTo>
                    <a:pt x="1492097" y="474737"/>
                    <a:pt x="1487354" y="486187"/>
                    <a:pt x="1478912" y="494629"/>
                  </a:cubicBezTo>
                  <a:cubicBezTo>
                    <a:pt x="1470470" y="503071"/>
                    <a:pt x="1459020" y="507814"/>
                    <a:pt x="1447081" y="507814"/>
                  </a:cubicBezTo>
                  <a:lnTo>
                    <a:pt x="45016" y="507814"/>
                  </a:lnTo>
                  <a:cubicBezTo>
                    <a:pt x="33077" y="507814"/>
                    <a:pt x="21627" y="503071"/>
                    <a:pt x="13185" y="494629"/>
                  </a:cubicBezTo>
                  <a:cubicBezTo>
                    <a:pt x="4743" y="486187"/>
                    <a:pt x="0" y="474737"/>
                    <a:pt x="0" y="462798"/>
                  </a:cubicBezTo>
                  <a:lnTo>
                    <a:pt x="0" y="45016"/>
                  </a:lnTo>
                  <a:cubicBezTo>
                    <a:pt x="0" y="33077"/>
                    <a:pt x="4743" y="21627"/>
                    <a:pt x="13185" y="13185"/>
                  </a:cubicBezTo>
                  <a:cubicBezTo>
                    <a:pt x="21627" y="4743"/>
                    <a:pt x="33077" y="0"/>
                    <a:pt x="45016" y="0"/>
                  </a:cubicBezTo>
                  <a:close/>
                </a:path>
              </a:pathLst>
            </a:custGeom>
            <a:blipFill>
              <a:blip r:embed="rId5"/>
              <a:stretch>
                <a:fillRect l="-7499" r="-5474"/>
              </a:stretch>
            </a:blipFill>
            <a:ln w="9525" cap="rnd">
              <a:solidFill>
                <a:schemeClr val="accent3">
                  <a:lumMod val="50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839279" y="8006245"/>
            <a:ext cx="9217015" cy="2779634"/>
            <a:chOff x="0" y="0"/>
            <a:chExt cx="1784088" cy="5380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84088" cy="538039"/>
            </a:xfrm>
            <a:custGeom>
              <a:avLst/>
              <a:gdLst/>
              <a:ahLst/>
              <a:cxnLst/>
              <a:rect l="l" t="t" r="r" b="b"/>
              <a:pathLst>
                <a:path w="1784088" h="538039">
                  <a:moveTo>
                    <a:pt x="47038" y="0"/>
                  </a:moveTo>
                  <a:lnTo>
                    <a:pt x="1737051" y="0"/>
                  </a:lnTo>
                  <a:cubicBezTo>
                    <a:pt x="1763029" y="0"/>
                    <a:pt x="1784088" y="21060"/>
                    <a:pt x="1784088" y="47038"/>
                  </a:cubicBezTo>
                  <a:lnTo>
                    <a:pt x="1784088" y="491001"/>
                  </a:lnTo>
                  <a:cubicBezTo>
                    <a:pt x="1784088" y="503476"/>
                    <a:pt x="1779133" y="515441"/>
                    <a:pt x="1770311" y="524262"/>
                  </a:cubicBezTo>
                  <a:cubicBezTo>
                    <a:pt x="1761490" y="533083"/>
                    <a:pt x="1749526" y="538039"/>
                    <a:pt x="1737051" y="538039"/>
                  </a:cubicBezTo>
                  <a:lnTo>
                    <a:pt x="47038" y="538039"/>
                  </a:lnTo>
                  <a:cubicBezTo>
                    <a:pt x="34563" y="538039"/>
                    <a:pt x="22598" y="533083"/>
                    <a:pt x="13777" y="524262"/>
                  </a:cubicBezTo>
                  <a:cubicBezTo>
                    <a:pt x="4956" y="515441"/>
                    <a:pt x="0" y="503476"/>
                    <a:pt x="0" y="491001"/>
                  </a:cubicBezTo>
                  <a:lnTo>
                    <a:pt x="0" y="47038"/>
                  </a:lnTo>
                  <a:cubicBezTo>
                    <a:pt x="0" y="34563"/>
                    <a:pt x="4956" y="22598"/>
                    <a:pt x="13777" y="13777"/>
                  </a:cubicBezTo>
                  <a:cubicBezTo>
                    <a:pt x="22598" y="4956"/>
                    <a:pt x="34563" y="0"/>
                    <a:pt x="47038" y="0"/>
                  </a:cubicBezTo>
                  <a:close/>
                </a:path>
              </a:pathLst>
            </a:custGeom>
            <a:blipFill>
              <a:blip r:embed="rId6"/>
              <a:stretch>
                <a:fillRect l="-5335" r="-5335"/>
              </a:stretch>
            </a:blipFill>
            <a:ln w="9525" cap="rnd">
              <a:solidFill>
                <a:schemeClr val="accent3">
                  <a:lumMod val="50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17845" y="5722207"/>
            <a:ext cx="739347" cy="739347"/>
          </a:xfrm>
          <a:custGeom>
            <a:avLst/>
            <a:gdLst/>
            <a:ahLst/>
            <a:cxnLst/>
            <a:rect l="l" t="t" r="r" b="b"/>
            <a:pathLst>
              <a:path w="739347" h="739347">
                <a:moveTo>
                  <a:pt x="0" y="0"/>
                </a:moveTo>
                <a:lnTo>
                  <a:pt x="739346" y="0"/>
                </a:lnTo>
                <a:lnTo>
                  <a:pt x="739346" y="739346"/>
                </a:lnTo>
                <a:lnTo>
                  <a:pt x="0" y="739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5" name="Freeform 15"/>
          <p:cNvSpPr/>
          <p:nvPr/>
        </p:nvSpPr>
        <p:spPr>
          <a:xfrm>
            <a:off x="9470336" y="5729888"/>
            <a:ext cx="731665" cy="731665"/>
          </a:xfrm>
          <a:custGeom>
            <a:avLst/>
            <a:gdLst/>
            <a:ahLst/>
            <a:cxnLst/>
            <a:rect l="l" t="t" r="r" b="b"/>
            <a:pathLst>
              <a:path w="731665" h="731665">
                <a:moveTo>
                  <a:pt x="0" y="0"/>
                </a:moveTo>
                <a:lnTo>
                  <a:pt x="731665" y="0"/>
                </a:lnTo>
                <a:lnTo>
                  <a:pt x="731665" y="731665"/>
                </a:lnTo>
                <a:lnTo>
                  <a:pt x="0" y="731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6" name="Freeform 16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7" name="TextBox 17"/>
          <p:cNvSpPr txBox="1"/>
          <p:nvPr/>
        </p:nvSpPr>
        <p:spPr>
          <a:xfrm>
            <a:off x="1028700" y="2065557"/>
            <a:ext cx="7349036" cy="111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7121" b="1" spc="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UBA: defincija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144895"/>
            <a:ext cx="7349036" cy="111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7121" b="1" spc="7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 važnost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40654" y="5448941"/>
            <a:ext cx="4543181" cy="4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Što je UBA?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89304" y="5448941"/>
            <a:ext cx="4543181" cy="4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Zašto je UBA važna?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40654" y="6088436"/>
            <a:ext cx="6012796" cy="103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Korištenje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analitike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podataka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umjetne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inteligencije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strojnog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učenja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za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praćenje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ponašanja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korisnika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mreži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modeliranje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uobičajenih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obrazaca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ponašanja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89304" y="6088436"/>
            <a:ext cx="5735572" cy="103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Za uočavanju izbjegavajućih napada kao što su insajderske prijetnje, napredne trajne prijetnje i hakeri koji koriste ukradene vjerodajnice.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9931">
            <a:off x="11046400" y="7213967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4" name="Group 4"/>
          <p:cNvGrpSpPr/>
          <p:nvPr/>
        </p:nvGrpSpPr>
        <p:grpSpPr>
          <a:xfrm>
            <a:off x="9144000" y="1175577"/>
            <a:ext cx="9631021" cy="3642974"/>
            <a:chOff x="0" y="0"/>
            <a:chExt cx="1492097" cy="5901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92097" cy="590132"/>
            </a:xfrm>
            <a:custGeom>
              <a:avLst/>
              <a:gdLst/>
              <a:ahLst/>
              <a:cxnLst/>
              <a:rect l="l" t="t" r="r" b="b"/>
              <a:pathLst>
                <a:path w="1492097" h="590132">
                  <a:moveTo>
                    <a:pt x="45016" y="0"/>
                  </a:moveTo>
                  <a:lnTo>
                    <a:pt x="1447081" y="0"/>
                  </a:lnTo>
                  <a:cubicBezTo>
                    <a:pt x="1459020" y="0"/>
                    <a:pt x="1470470" y="4743"/>
                    <a:pt x="1478912" y="13185"/>
                  </a:cubicBezTo>
                  <a:cubicBezTo>
                    <a:pt x="1487354" y="21627"/>
                    <a:pt x="1492097" y="33077"/>
                    <a:pt x="1492097" y="45016"/>
                  </a:cubicBezTo>
                  <a:lnTo>
                    <a:pt x="1492097" y="545116"/>
                  </a:lnTo>
                  <a:cubicBezTo>
                    <a:pt x="1492097" y="557055"/>
                    <a:pt x="1487354" y="568505"/>
                    <a:pt x="1478912" y="576947"/>
                  </a:cubicBezTo>
                  <a:cubicBezTo>
                    <a:pt x="1470470" y="585389"/>
                    <a:pt x="1459020" y="590132"/>
                    <a:pt x="1447081" y="590132"/>
                  </a:cubicBezTo>
                  <a:lnTo>
                    <a:pt x="45016" y="590132"/>
                  </a:lnTo>
                  <a:cubicBezTo>
                    <a:pt x="33077" y="590132"/>
                    <a:pt x="21627" y="585389"/>
                    <a:pt x="13185" y="576947"/>
                  </a:cubicBezTo>
                  <a:cubicBezTo>
                    <a:pt x="4743" y="568505"/>
                    <a:pt x="0" y="557055"/>
                    <a:pt x="0" y="545116"/>
                  </a:cubicBezTo>
                  <a:lnTo>
                    <a:pt x="0" y="45016"/>
                  </a:lnTo>
                  <a:cubicBezTo>
                    <a:pt x="0" y="33077"/>
                    <a:pt x="4743" y="21627"/>
                    <a:pt x="13185" y="13185"/>
                  </a:cubicBezTo>
                  <a:cubicBezTo>
                    <a:pt x="21627" y="4743"/>
                    <a:pt x="33077" y="0"/>
                    <a:pt x="45016" y="0"/>
                  </a:cubicBezTo>
                  <a:close/>
                </a:path>
              </a:pathLst>
            </a:custGeom>
            <a:blipFill>
              <a:blip r:embed="rId5"/>
              <a:stretch>
                <a:fillRect t="-25220" b="-25220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823873"/>
            <a:ext cx="7349036" cy="111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7121" b="1" spc="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Virtualno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903211"/>
            <a:ext cx="7349036" cy="111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7121" b="1" spc="7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okruženje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468449"/>
            <a:ext cx="4543181" cy="4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Virtualna</a:t>
            </a:r>
            <a:r>
              <a:rPr lang="en-US" sz="264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649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mreža</a:t>
            </a:r>
            <a:endParaRPr lang="en-US" sz="264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627131"/>
            <a:ext cx="5465614" cy="4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Simulacija kibernetičkih prijetnji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91625" y="5468449"/>
            <a:ext cx="4543181" cy="4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VPN, VLAN, VXLAN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107944"/>
            <a:ext cx="5735572" cy="103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Mreža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kojoj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svi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uređaji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poslužitelji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mašine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podatkovni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centri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povezani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putem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softvera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bežične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tehnologije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266626"/>
            <a:ext cx="6145542" cy="679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Kreira se sigurno i izolirano okruženje; financijski je isplativo i omogućava učinkovito kontinuirano učenje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91625" y="6107944"/>
            <a:ext cx="6145542" cy="385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Virtualn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Private Network (VPN) -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koristi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internet za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povezivanje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dviju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više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postojećih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mreža</a:t>
            </a: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88"/>
              </a:lnSpc>
            </a:pP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88"/>
              </a:lnSpc>
            </a:pP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 LAN Network (VLAN) -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particije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za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grupiranje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uređaja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LAN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mreži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domene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resursima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konfiguracijama</a:t>
            </a: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88"/>
              </a:lnSpc>
            </a:pP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88"/>
              </a:lnSpc>
            </a:pP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eXtensible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Local Area Network (VXLAN) -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mrežna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infrastruktura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razine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3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pruža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tunel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 </a:t>
            </a:r>
            <a:r>
              <a:rPr lang="en-US" sz="172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razinu</a:t>
            </a:r>
            <a:r>
              <a:rPr lang="en-US" sz="172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</a:p>
          <a:p>
            <a:pPr algn="l">
              <a:lnSpc>
                <a:spcPts val="2788"/>
              </a:lnSpc>
            </a:pP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88"/>
              </a:lnSpc>
            </a:pPr>
            <a:endParaRPr lang="en-US" sz="172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5" name="TextBox 15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/>
          <p:cNvSpPr txBox="1"/>
          <p:nvPr/>
        </p:nvSpPr>
        <p:spPr>
          <a:xfrm>
            <a:off x="1028700" y="3518040"/>
            <a:ext cx="5611269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Anomalije 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95330"/>
            <a:ext cx="7614606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strojno učenje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29800" y="3035479"/>
            <a:ext cx="6737951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16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definiranje “normalnih” obrazaca i metrika</a:t>
            </a:r>
          </a:p>
          <a:p>
            <a:pPr marL="431801" lvl="1" indent="-215900" algn="l">
              <a:lnSpc>
                <a:spcPts val="316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identifikacija podatkovnih točaka koje odstupaju</a:t>
            </a:r>
          </a:p>
        </p:txBody>
      </p:sp>
      <p:sp>
        <p:nvSpPr>
          <p:cNvPr id="6" name="Freeform 6"/>
          <p:cNvSpPr/>
          <p:nvPr/>
        </p:nvSpPr>
        <p:spPr>
          <a:xfrm rot="-4989931">
            <a:off x="10277973" y="6630908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TextBox 7"/>
          <p:cNvSpPr txBox="1"/>
          <p:nvPr/>
        </p:nvSpPr>
        <p:spPr>
          <a:xfrm>
            <a:off x="9829800" y="6495696"/>
            <a:ext cx="673795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Nadzirano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učenje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KNN, LOF</a:t>
            </a:r>
          </a:p>
          <a:p>
            <a:pPr algn="l">
              <a:lnSpc>
                <a:spcPts val="3160"/>
              </a:lnSpc>
            </a:pP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Nenadzirano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učenje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K-means, Isolation forest, SVM</a:t>
            </a:r>
          </a:p>
          <a:p>
            <a:pPr algn="l">
              <a:lnSpc>
                <a:spcPts val="3160"/>
              </a:lnSpc>
            </a:pP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Polunadzirano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učenje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Linearna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regresija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29800" y="4763417"/>
            <a:ext cx="7250191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Programiranje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računala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temeljem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podataka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ili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prethodnog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iskustva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optimizira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kriterij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uspješnosti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829800" y="2601949"/>
            <a:ext cx="3979090" cy="469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Detekcija anomalije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0" y="6057546"/>
            <a:ext cx="4893822" cy="93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Algoritmi</a:t>
            </a:r>
          </a:p>
          <a:p>
            <a:pPr algn="l">
              <a:lnSpc>
                <a:spcPts val="3732"/>
              </a:lnSpc>
            </a:pPr>
            <a:endParaRPr lang="en-US" sz="3000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29800" y="4329886"/>
            <a:ext cx="4470297" cy="469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Strojno učenje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3" name="TextBox 13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/>
          <p:cNvSpPr txBox="1"/>
          <p:nvPr/>
        </p:nvSpPr>
        <p:spPr>
          <a:xfrm>
            <a:off x="1606960" y="4018942"/>
            <a:ext cx="6990698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Praktični</a:t>
            </a:r>
            <a:endParaRPr lang="en-US" sz="711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06960" y="5096232"/>
            <a:ext cx="4817624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 dirty="0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 rada</a:t>
            </a:r>
          </a:p>
        </p:txBody>
      </p:sp>
      <p:sp>
        <p:nvSpPr>
          <p:cNvPr id="5" name="Freeform 5"/>
          <p:cNvSpPr/>
          <p:nvPr/>
        </p:nvSpPr>
        <p:spPr>
          <a:xfrm rot="-4989931">
            <a:off x="1198165" y="6085626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TextBox 6"/>
          <p:cNvSpPr txBox="1"/>
          <p:nvPr/>
        </p:nvSpPr>
        <p:spPr>
          <a:xfrm>
            <a:off x="8730550" y="2107105"/>
            <a:ext cx="7684408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Uspostavljanje virtualne mreže</a:t>
            </a:r>
            <a:endParaRPr lang="en-US" sz="2789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54419" y="1764612"/>
            <a:ext cx="517421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7"/>
              </a:lnSpc>
            </a:pPr>
            <a:r>
              <a:rPr lang="en-US" sz="6999" b="1" dirty="0">
                <a:solidFill>
                  <a:srgbClr val="EE9E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71840" y="3343013"/>
            <a:ext cx="517421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7"/>
              </a:lnSpc>
            </a:pPr>
            <a:r>
              <a:rPr lang="en-US" sz="6999" b="1" dirty="0">
                <a:solidFill>
                  <a:srgbClr val="EE9E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89261" y="4921414"/>
            <a:ext cx="517421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7"/>
              </a:lnSpc>
            </a:pPr>
            <a:r>
              <a:rPr lang="en-US" sz="6999" b="1" dirty="0">
                <a:solidFill>
                  <a:srgbClr val="EE9E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6682" y="6499815"/>
            <a:ext cx="517421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7"/>
              </a:lnSpc>
            </a:pPr>
            <a:r>
              <a:rPr lang="en-US" sz="6999" b="1" dirty="0">
                <a:solidFill>
                  <a:srgbClr val="EE9E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2" name="TextBox 12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24987" y="3451198"/>
            <a:ext cx="6473932" cy="880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Dodjeljivanje uloga korisnicima u mreži</a:t>
            </a:r>
            <a:endParaRPr lang="en-US" sz="2789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65392" y="5263908"/>
            <a:ext cx="7684408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Pra</a:t>
            </a:r>
            <a:r>
              <a:rPr lang="en-US" sz="2789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ćenje</a:t>
            </a: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mrežn</a:t>
            </a:r>
            <a:r>
              <a:rPr lang="en-US" sz="2789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og</a:t>
            </a: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promet</a:t>
            </a:r>
            <a:r>
              <a:rPr lang="en-US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646" y="6842309"/>
            <a:ext cx="4798282" cy="418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Izrada vizualizacije</a:t>
            </a:r>
            <a:endParaRPr lang="en-US" sz="2789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3BEC742-7ABC-43EA-8B12-7F472DFBB69F}"/>
              </a:ext>
            </a:extLst>
          </p:cNvPr>
          <p:cNvSpPr txBox="1"/>
          <p:nvPr/>
        </p:nvSpPr>
        <p:spPr>
          <a:xfrm>
            <a:off x="10024103" y="8078216"/>
            <a:ext cx="517421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7"/>
              </a:lnSpc>
            </a:pPr>
            <a:r>
              <a:rPr lang="hr-HR" sz="6999" b="1" dirty="0">
                <a:solidFill>
                  <a:srgbClr val="EE9E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endParaRPr lang="en-US" sz="6999" b="1" dirty="0">
              <a:solidFill>
                <a:srgbClr val="EE9E4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669105FE-DAB6-9E8F-FB24-8B56BF73D929}"/>
              </a:ext>
            </a:extLst>
          </p:cNvPr>
          <p:cNvSpPr txBox="1"/>
          <p:nvPr/>
        </p:nvSpPr>
        <p:spPr>
          <a:xfrm>
            <a:off x="10923059" y="8196289"/>
            <a:ext cx="6526741" cy="867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Razvoj modela strojnog učenja za</a:t>
            </a:r>
            <a:b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</a:br>
            <a:r>
              <a:rPr lang="hr-HR" sz="278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detekciju anomalija</a:t>
            </a:r>
            <a:endParaRPr lang="en-US" sz="2789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576D9-60B1-AD83-D1DF-CD26BAE5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7BA1F7-9207-99F5-44EB-B15153A61D61}"/>
              </a:ext>
            </a:extLst>
          </p:cNvPr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9DE5D31-5189-38D0-B81A-02D251741AE1}"/>
              </a:ext>
            </a:extLst>
          </p:cNvPr>
          <p:cNvSpPr txBox="1"/>
          <p:nvPr/>
        </p:nvSpPr>
        <p:spPr>
          <a:xfrm>
            <a:off x="1606960" y="1638300"/>
            <a:ext cx="5128228" cy="1086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hr-HR" sz="711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Predviđeni</a:t>
            </a:r>
            <a:endParaRPr lang="en-US" sz="711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A4617FF-CBDA-7198-F309-65A6A9BE8712}"/>
              </a:ext>
            </a:extLst>
          </p:cNvPr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E83547-FDD9-FAC3-465D-B362A706B437}"/>
              </a:ext>
            </a:extLst>
          </p:cNvPr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F5491D8-0085-FE98-F72F-5514407D871A}"/>
              </a:ext>
            </a:extLst>
          </p:cNvPr>
          <p:cNvSpPr txBox="1"/>
          <p:nvPr/>
        </p:nvSpPr>
        <p:spPr>
          <a:xfrm>
            <a:off x="2286000" y="3802403"/>
            <a:ext cx="6559724" cy="1409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88"/>
              </a:lnSpc>
            </a:pPr>
            <a:r>
              <a:rPr lang="hr-HR" sz="2800" b="1" dirty="0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Oracle </a:t>
            </a:r>
            <a:r>
              <a:rPr lang="hr-HR" sz="2800" b="1" dirty="0" err="1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VirtualBox</a:t>
            </a:r>
            <a:endParaRPr lang="hr-HR" sz="2800" b="1" dirty="0">
              <a:solidFill>
                <a:srgbClr val="FFFFFF"/>
              </a:solidFill>
              <a:latin typeface="Open Sauce Bold" panose="020B0604020202020204" charset="-18"/>
              <a:ea typeface="Montserrat"/>
              <a:cs typeface="Montserrat"/>
              <a:sym typeface="Montserrat"/>
            </a:endParaRPr>
          </a:p>
          <a:p>
            <a:pPr marL="342900" indent="-342900">
              <a:lnSpc>
                <a:spcPts val="2788"/>
              </a:lnSpc>
              <a:buFontTx/>
              <a:buChar char="-"/>
            </a:pPr>
            <a:r>
              <a:rPr lang="hr-HR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Hipervizor</a:t>
            </a:r>
            <a:endParaRPr lang="hr-HR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42900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Omogućuje virtualizaciju</a:t>
            </a:r>
          </a:p>
          <a:p>
            <a:pPr marL="342900" indent="-342900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Virtualizacija tipa 2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9C56B517-4153-5371-59D3-4C3FDB839DD2}"/>
              </a:ext>
            </a:extLst>
          </p:cNvPr>
          <p:cNvSpPr txBox="1"/>
          <p:nvPr/>
        </p:nvSpPr>
        <p:spPr>
          <a:xfrm>
            <a:off x="9518476" y="3802403"/>
            <a:ext cx="6559724" cy="248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hr-HR" sz="2800" dirty="0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SELKS </a:t>
            </a:r>
            <a:r>
              <a:rPr lang="hr-HR" sz="2800" dirty="0" err="1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stack</a:t>
            </a:r>
            <a:endParaRPr lang="hr-HR" sz="2800" dirty="0">
              <a:solidFill>
                <a:srgbClr val="FFFFFF"/>
              </a:solidFill>
              <a:latin typeface="Open Sauce Bold" panose="020B0604020202020204" charset="-18"/>
              <a:ea typeface="Montserrat"/>
              <a:cs typeface="Montserrat"/>
              <a:sym typeface="Montserrat"/>
            </a:endParaRP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Nadziranje mrežnog prometa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hr-HR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uricata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analiza mrežnog prometa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hr-HR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lasticsearch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pohrana i pretraga logova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 </a:t>
            </a:r>
            <a:r>
              <a:rPr lang="hr-HR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ogstash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obrada i prosljeđivanje logova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 </a:t>
            </a:r>
            <a:r>
              <a:rPr lang="hr-HR" sz="2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ibana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vizualizacija podataka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cirius – upravljanje pravilima i threat hunting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5CF29591-48ED-526C-D205-C19883920AC4}"/>
              </a:ext>
            </a:extLst>
          </p:cNvPr>
          <p:cNvSpPr/>
          <p:nvPr/>
        </p:nvSpPr>
        <p:spPr>
          <a:xfrm rot="17634196">
            <a:off x="995677" y="7514828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dirty="0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C6750943-A1C1-99C1-9D7F-A34D8E0A38FF}"/>
              </a:ext>
            </a:extLst>
          </p:cNvPr>
          <p:cNvSpPr txBox="1"/>
          <p:nvPr/>
        </p:nvSpPr>
        <p:spPr>
          <a:xfrm>
            <a:off x="2286000" y="5756615"/>
            <a:ext cx="6559724" cy="1409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hr-HR" sz="2800" dirty="0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GNS3</a:t>
            </a: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Simulator virtualne mreže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Kreiranje i testiranje mrežnih topologija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Implementacija više sustava i više korisnika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78374FB-9466-023A-F759-4E448716C0F1}"/>
              </a:ext>
            </a:extLst>
          </p:cNvPr>
          <p:cNvSpPr txBox="1"/>
          <p:nvPr/>
        </p:nvSpPr>
        <p:spPr>
          <a:xfrm>
            <a:off x="9518476" y="6905803"/>
            <a:ext cx="5948038" cy="105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hr-HR" sz="2800" dirty="0">
                <a:solidFill>
                  <a:srgbClr val="FFFFFF"/>
                </a:solidFill>
                <a:latin typeface="Open Sauce Bold" panose="020B0604020202020204" charset="-18"/>
                <a:ea typeface="Montserrat"/>
                <a:cs typeface="Montserrat"/>
                <a:sym typeface="Montserrat"/>
              </a:rPr>
              <a:t>VS Code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Skripte</a:t>
            </a:r>
          </a:p>
          <a:p>
            <a:pPr marL="342900" indent="-342900" algn="l">
              <a:lnSpc>
                <a:spcPts val="2788"/>
              </a:lnSpc>
              <a:buFontTx/>
              <a:buChar char="-"/>
            </a:pPr>
            <a:r>
              <a:rPr lang="hr-HR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strojnog učenja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43427D6-9520-85BA-94B7-5B893B610B65}"/>
              </a:ext>
            </a:extLst>
          </p:cNvPr>
          <p:cNvSpPr txBox="1"/>
          <p:nvPr/>
        </p:nvSpPr>
        <p:spPr>
          <a:xfrm>
            <a:off x="6553200" y="1638299"/>
            <a:ext cx="4817624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 dirty="0" err="1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alati</a:t>
            </a:r>
            <a:endParaRPr lang="en-US" sz="7119" b="1" dirty="0">
              <a:solidFill>
                <a:srgbClr val="A7D43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E1CE169-6230-6527-24DE-4F912770C1FE}"/>
              </a:ext>
            </a:extLst>
          </p:cNvPr>
          <p:cNvSpPr/>
          <p:nvPr/>
        </p:nvSpPr>
        <p:spPr>
          <a:xfrm rot="17634196">
            <a:off x="14267748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225457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/>
          <p:cNvSpPr txBox="1"/>
          <p:nvPr/>
        </p:nvSpPr>
        <p:spPr>
          <a:xfrm>
            <a:off x="2008815" y="3793515"/>
            <a:ext cx="4657288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Očekivani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08815" y="4870805"/>
            <a:ext cx="4657288" cy="10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7119" b="1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93204" y="2117598"/>
            <a:ext cx="3979090" cy="8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Konfiguracija virtualne mreže</a:t>
            </a:r>
            <a:endParaRPr lang="en-US" sz="278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93204" y="5573725"/>
            <a:ext cx="4893822" cy="8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Generiranje dovoljnog broja podataka</a:t>
            </a:r>
            <a:endParaRPr lang="en-US" sz="278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93204" y="4050722"/>
            <a:ext cx="5833634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Povezivanje virtualnih mašina</a:t>
            </a:r>
            <a:endParaRPr lang="en-US" sz="278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8" name="Freeform 8"/>
          <p:cNvSpPr/>
          <p:nvPr/>
        </p:nvSpPr>
        <p:spPr>
          <a:xfrm rot="-4989931">
            <a:off x="10277973" y="6630908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10893204" y="7522299"/>
            <a:ext cx="5833634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hr-HR" sz="278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Nedostatak računalnih resursa</a:t>
            </a:r>
            <a:endParaRPr lang="en-US" sz="2789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829800" y="2277923"/>
            <a:ext cx="547089" cy="5470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29800" y="5734050"/>
            <a:ext cx="547089" cy="5470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29800" y="4005861"/>
            <a:ext cx="547089" cy="54708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29800" y="7461988"/>
            <a:ext cx="547089" cy="54708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FF38">
                    <a:alpha val="100000"/>
                  </a:srgbClr>
                </a:gs>
                <a:gs pos="100000">
                  <a:srgbClr val="FF72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8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23" name="TextBox 23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/>
          <p:cNvSpPr txBox="1"/>
          <p:nvPr/>
        </p:nvSpPr>
        <p:spPr>
          <a:xfrm>
            <a:off x="1028700" y="2019300"/>
            <a:ext cx="7480567" cy="103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6"/>
              </a:lnSpc>
            </a:pPr>
            <a:r>
              <a:rPr lang="en-US" sz="6800" b="1" spc="856" dirty="0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LITERATURA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571658"/>
            <a:ext cx="15278101" cy="577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BMC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Blogovi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(2020). What Is a Virtual Network? A Primer.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4"/>
              </a:rPr>
              <a:t>https://www.bmc.com/blogs/virtual-network/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b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</a:b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CloudShare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(2023). How can cybersecurity companies leverage virtual environments?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23.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5"/>
              </a:rPr>
              <a:t>https://www.cloudshare.com/question/how-can-cybersecurity-companies-leverage-virtual-environments/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b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</a:b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ExpertInsights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(2022). The Top User Behavior Analytics (UBA) Solutions.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6"/>
              </a:rPr>
              <a:t>https://expertinsights.com/data-loss-prevention/the-top-user-behavior-analytics-uba-solutions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GNS3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Documentation.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7"/>
              </a:rPr>
              <a:t>https://docs.gns3.com/docs/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IBM (2024). Machine learning for anomaly detection.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8"/>
              </a:rPr>
              <a:t>https://www.ibm.com/think/topics/machine-learning-for-anomaly-detection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IBM (2024). What is User Behavior Analytics (UBA)?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24.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9"/>
              </a:rPr>
              <a:t>https://www.ibm.com/think/topics/user-behavior-analytics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Stamus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Networks (2018). Inside SELKS: What’s Under the Hood.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10"/>
              </a:rPr>
              <a:t>https://www.stamus-networks.com/blog/inside-selks-whats-under-the-hood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 rot="-4989931">
            <a:off x="11104163" y="6989255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/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TextBox 7"/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33726-4538-D689-A849-A226BBDB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9D33FD-7C89-DF99-47F6-C8E8FB9F9956}"/>
              </a:ext>
            </a:extLst>
          </p:cNvPr>
          <p:cNvSpPr/>
          <p:nvPr/>
        </p:nvSpPr>
        <p:spPr>
          <a:xfrm rot="126200">
            <a:off x="-1792461" y="-4941890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A2A679D-9212-B459-7819-199C2D68BE5B}"/>
              </a:ext>
            </a:extLst>
          </p:cNvPr>
          <p:cNvSpPr txBox="1"/>
          <p:nvPr/>
        </p:nvSpPr>
        <p:spPr>
          <a:xfrm>
            <a:off x="1028700" y="2019300"/>
            <a:ext cx="7480567" cy="103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6"/>
              </a:lnSpc>
            </a:pPr>
            <a:r>
              <a:rPr lang="en-US" sz="6800" b="1" spc="856" dirty="0">
                <a:solidFill>
                  <a:srgbClr val="A7D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LITERATURA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7409A1-8884-1EB1-1A61-279E8091AB84}"/>
              </a:ext>
            </a:extLst>
          </p:cNvPr>
          <p:cNvSpPr txBox="1"/>
          <p:nvPr/>
        </p:nvSpPr>
        <p:spPr>
          <a:xfrm>
            <a:off x="1028700" y="3571658"/>
            <a:ext cx="15278101" cy="488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9"/>
              </a:lnSpc>
            </a:pP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Stamus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Networks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SELKS Archive.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4"/>
              </a:rPr>
              <a:t>https://www.stamus-networks.com/selks-archive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VirtualBox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Chapter 1: First Steps - Introduction.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5"/>
              </a:rPr>
              <a:t>https://www.virtualbox.org/manual/topics/Introduction.html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VirtualBox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Technical documentation.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25.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6"/>
              </a:rPr>
              <a:t>https://www.virtualbox.org/wiki/Technical_documentation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YouTube (2019). Virtual Networking Explained. [Video].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Preuzeto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23.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listopada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2025. s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  <a:hlinkClick r:id="rId7"/>
              </a:rPr>
              <a:t>https://www.youtube.com/watch?v=u0TgGIn2LIM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Oreški, D.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Metoda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potpornih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vektora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[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Prezentacija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].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Fakultet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organizacije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informatike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Varaždin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.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Oreški, D.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Nenadzirano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strojno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učenje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[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Prezentacija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].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Fakultet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organizacije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informatike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Varaždin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.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Oreški, D.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Učenje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[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Prezentacija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].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Fakultet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organizacije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informatike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Varaždin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.</a:t>
            </a:r>
          </a:p>
          <a:p>
            <a:pPr>
              <a:lnSpc>
                <a:spcPts val="3469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Oreški, D. (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b.d.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).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Strojno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učenje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temeljeno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na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sličnosti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[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Prezentacija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].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Fakultet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organizacije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informatike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Varaždin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18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A505637-B8D2-E991-6D79-9AEF6D0F69AB}"/>
              </a:ext>
            </a:extLst>
          </p:cNvPr>
          <p:cNvSpPr/>
          <p:nvPr/>
        </p:nvSpPr>
        <p:spPr>
          <a:xfrm rot="-4989931">
            <a:off x="11104163" y="6989255"/>
            <a:ext cx="9111048" cy="9883780"/>
          </a:xfrm>
          <a:custGeom>
            <a:avLst/>
            <a:gdLst/>
            <a:ahLst/>
            <a:cxnLst/>
            <a:rect l="l" t="t" r="r" b="b"/>
            <a:pathLst>
              <a:path w="9111048" h="9883780">
                <a:moveTo>
                  <a:pt x="0" y="0"/>
                </a:moveTo>
                <a:lnTo>
                  <a:pt x="9111048" y="0"/>
                </a:lnTo>
                <a:lnTo>
                  <a:pt x="9111048" y="9883780"/>
                </a:lnTo>
                <a:lnTo>
                  <a:pt x="0" y="9883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A84A69-EB9F-1232-A386-AB50C0EC2184}"/>
              </a:ext>
            </a:extLst>
          </p:cNvPr>
          <p:cNvSpPr/>
          <p:nvPr/>
        </p:nvSpPr>
        <p:spPr>
          <a:xfrm>
            <a:off x="1028700" y="769220"/>
            <a:ext cx="578260" cy="406345"/>
          </a:xfrm>
          <a:custGeom>
            <a:avLst/>
            <a:gdLst/>
            <a:ahLst/>
            <a:cxnLst/>
            <a:rect l="l" t="t" r="r" b="b"/>
            <a:pathLst>
              <a:path w="578260" h="406345">
                <a:moveTo>
                  <a:pt x="0" y="0"/>
                </a:moveTo>
                <a:lnTo>
                  <a:pt x="578260" y="0"/>
                </a:lnTo>
                <a:lnTo>
                  <a:pt x="578260" y="406346"/>
                </a:lnTo>
                <a:lnTo>
                  <a:pt x="0" y="4063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3486243-BFCD-B27F-658B-8391BD0CB357}"/>
              </a:ext>
            </a:extLst>
          </p:cNvPr>
          <p:cNvSpPr txBox="1"/>
          <p:nvPr/>
        </p:nvSpPr>
        <p:spPr>
          <a:xfrm>
            <a:off x="2008815" y="816002"/>
            <a:ext cx="5605195" cy="30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KOLEGIJ: </a:t>
            </a:r>
            <a:r>
              <a:rPr lang="hr-HR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igurnost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informacijskih</a:t>
            </a:r>
            <a:r>
              <a:rPr lang="en-US" sz="19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8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sustava</a:t>
            </a:r>
            <a:endParaRPr lang="en-US" sz="198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0770063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1103</Words>
  <Application>Microsoft Office PowerPoint</Application>
  <PresentationFormat>Custom</PresentationFormat>
  <Paragraphs>118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Sauce Bold</vt:lpstr>
      <vt:lpstr>Calibri</vt:lpstr>
      <vt:lpstr>Open Sauce</vt:lpstr>
      <vt:lpstr>Aptos</vt:lpstr>
      <vt:lpstr>Montserrat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User_Behaviour_Analytics_Jelcic_Klaric_Kos_Kovac</dc:title>
  <dc:creator>Maksim Kos</dc:creator>
  <cp:lastModifiedBy>Marta Kovač</cp:lastModifiedBy>
  <cp:revision>10</cp:revision>
  <dcterms:created xsi:type="dcterms:W3CDTF">2006-08-16T00:00:00Z</dcterms:created>
  <dcterms:modified xsi:type="dcterms:W3CDTF">2025-10-29T11:20:54Z</dcterms:modified>
  <dc:identifier>DAG3BOpFl0Y</dc:identifier>
</cp:coreProperties>
</file>